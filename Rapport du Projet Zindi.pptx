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38" autoAdjust="0"/>
    <p:restoredTop sz="94660"/>
  </p:normalViewPr>
  <p:slideViewPr>
    <p:cSldViewPr snapToGrid="0">
      <p:cViewPr varScale="1">
        <p:scale>
          <a:sx n="77" d="100"/>
          <a:sy n="77" d="100"/>
        </p:scale>
        <p:origin x="240"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12/2/2025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200416"/>
            <a:ext cx="8825658" cy="2066795"/>
          </a:xfrm>
        </p:spPr>
        <p:txBody>
          <a:bodyPr/>
          <a:lstStyle/>
          <a:p>
            <a:pPr algn="ctr"/>
            <a:r>
              <a:rPr lang="fr-FR" sz="5400" b="1" i="1" dirty="0" smtClean="0"/>
              <a:t>Mise en </a:t>
            </a:r>
            <a:r>
              <a:rPr lang="fr-FR" sz="5400" b="1" i="1" dirty="0" smtClean="0"/>
              <a:t>place d’un </a:t>
            </a:r>
            <a:r>
              <a:rPr lang="fr-FR" sz="4800" b="1" i="1" dirty="0"/>
              <a:t>modèle de </a:t>
            </a:r>
            <a:r>
              <a:rPr lang="fr-FR" sz="4400" b="1" i="1" dirty="0"/>
              <a:t>détection de fraude</a:t>
            </a:r>
          </a:p>
        </p:txBody>
      </p:sp>
      <p:sp>
        <p:nvSpPr>
          <p:cNvPr id="3" name="Subtitle 2"/>
          <p:cNvSpPr>
            <a:spLocks noGrp="1"/>
          </p:cNvSpPr>
          <p:nvPr>
            <p:ph type="subTitle" idx="1"/>
          </p:nvPr>
        </p:nvSpPr>
        <p:spPr>
          <a:xfrm>
            <a:off x="1154955" y="2505205"/>
            <a:ext cx="8825658" cy="4133589"/>
          </a:xfrm>
        </p:spPr>
        <p:txBody>
          <a:bodyPr>
            <a:noAutofit/>
          </a:bodyPr>
          <a:lstStyle/>
          <a:p>
            <a:pPr>
              <a:lnSpc>
                <a:spcPct val="170000"/>
              </a:lnSpc>
            </a:pPr>
            <a:r>
              <a:rPr lang="fr-FR" sz="1200" b="1" dirty="0" smtClean="0">
                <a:solidFill>
                  <a:schemeClr val="tx1"/>
                </a:solidFill>
                <a:latin typeface="Times New Roman" panose="02020603050405020304" pitchFamily="18" charset="0"/>
                <a:cs typeface="Times New Roman" panose="02020603050405020304" pitchFamily="18" charset="0"/>
              </a:rPr>
              <a:t>création d’un </a:t>
            </a:r>
            <a:r>
              <a:rPr lang="fr-FR" sz="1200" b="1" dirty="0">
                <a:solidFill>
                  <a:schemeClr val="tx1"/>
                </a:solidFill>
                <a:latin typeface="Times New Roman" panose="02020603050405020304" pitchFamily="18" charset="0"/>
                <a:cs typeface="Times New Roman" panose="02020603050405020304" pitchFamily="18" charset="0"/>
              </a:rPr>
              <a:t>pipeline de nettoyage de données polyvalent pour préparer des données brutes à remettre à l'équipe des data scientists de la People's First Bank. L'objectif est de nettoyer, normaliser et préparer les données de transactions afin que l'équipe des data scientists puisse construire un modèle de détection de fraude. L'équipe rencontre actuellement des difficultés avec les informations personnelles identifiables (PII), les formats incohérents et les chaînes de caractères mal formées.</a:t>
            </a:r>
          </a:p>
          <a:p>
            <a:pPr>
              <a:lnSpc>
                <a:spcPct val="170000"/>
              </a:lnSpc>
            </a:pPr>
            <a:r>
              <a:rPr lang="fr-FR" sz="1200" b="1" dirty="0">
                <a:solidFill>
                  <a:schemeClr val="tx1"/>
                </a:solidFill>
                <a:latin typeface="Times New Roman" panose="02020603050405020304" pitchFamily="18" charset="0"/>
                <a:cs typeface="Times New Roman" panose="02020603050405020304" pitchFamily="18" charset="0"/>
              </a:rPr>
              <a:t>Le pipeline doit être conçu pour être réutilisable. Il ne doit pas dépendre de valeurs spécifiques ou d'hypothèses fondées sur les données à votre disposition. La logique de nettoyage doit être adaptable à des jeux de données futurs respectant le même schéma, même s'ils incluent des formats, des catégories ou des plages de valeurs différentes ou inconnues. Il doit être capable de traiter des jeux de données futurs qui suivent le même schéma mais peuvent varier en format, contenu ou dénomination.</a:t>
            </a:r>
          </a:p>
          <a:p>
            <a:endParaRPr lang="fr-FR" sz="700" dirty="0"/>
          </a:p>
        </p:txBody>
      </p:sp>
    </p:spTree>
    <p:extLst>
      <p:ext uri="{BB962C8B-B14F-4D97-AF65-F5344CB8AC3E}">
        <p14:creationId xmlns:p14="http://schemas.microsoft.com/office/powerpoint/2010/main" val="29817542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Vision du Projet </a:t>
            </a:r>
            <a:r>
              <a:rPr lang="fr-FR" dirty="0" err="1" smtClean="0"/>
              <a:t>Zindi</a:t>
            </a:r>
            <a:endParaRPr lang="fr-FR" dirty="0"/>
          </a:p>
        </p:txBody>
      </p:sp>
      <p:sp>
        <p:nvSpPr>
          <p:cNvPr id="3" name="Content Placeholder 2"/>
          <p:cNvSpPr>
            <a:spLocks noGrp="1"/>
          </p:cNvSpPr>
          <p:nvPr>
            <p:ph idx="1"/>
          </p:nvPr>
        </p:nvSpPr>
        <p:spPr>
          <a:xfrm>
            <a:off x="1103312" y="2052919"/>
            <a:ext cx="8946541" cy="3608846"/>
          </a:xfrm>
        </p:spPr>
        <p:txBody>
          <a:bodyPr/>
          <a:lstStyle/>
          <a:p>
            <a:endParaRPr lang="fr-FR" dirty="0" smtClean="0"/>
          </a:p>
          <a:p>
            <a:endParaRPr lang="fr-FR" dirty="0"/>
          </a:p>
          <a:p>
            <a:endParaRPr lang="fr-FR" dirty="0" smtClean="0"/>
          </a:p>
          <a:p>
            <a:r>
              <a:rPr lang="fr-FR" dirty="0" smtClean="0"/>
              <a:t>Concevoir </a:t>
            </a:r>
            <a:r>
              <a:rPr lang="fr-FR" dirty="0"/>
              <a:t>une logique de nettoyage de données dynamique</a:t>
            </a:r>
          </a:p>
          <a:p>
            <a:r>
              <a:rPr lang="fr-FR" dirty="0"/>
              <a:t>Identifier et résoudre les problèmes courants de données</a:t>
            </a:r>
          </a:p>
          <a:p>
            <a:r>
              <a:rPr lang="fr-FR" dirty="0"/>
              <a:t>Écrire un code réutilisable, adapté à la production</a:t>
            </a:r>
          </a:p>
          <a:p>
            <a:r>
              <a:rPr lang="fr-FR" dirty="0"/>
              <a:t>Protéger les données privées via le masquage</a:t>
            </a:r>
          </a:p>
          <a:p>
            <a:pPr marL="0" indent="0">
              <a:buNone/>
            </a:pPr>
            <a:endParaRPr lang="fr-FR" dirty="0"/>
          </a:p>
        </p:txBody>
      </p:sp>
    </p:spTree>
    <p:extLst>
      <p:ext uri="{BB962C8B-B14F-4D97-AF65-F5344CB8AC3E}">
        <p14:creationId xmlns:p14="http://schemas.microsoft.com/office/powerpoint/2010/main" val="1573105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i="1" u="sng" dirty="0" smtClean="0"/>
              <a:t>Tâche</a:t>
            </a:r>
            <a:r>
              <a:rPr lang="fr-FR" b="1" i="1" dirty="0" smtClean="0"/>
              <a:t> : </a:t>
            </a:r>
            <a:r>
              <a:rPr lang="fr-FR" dirty="0" smtClean="0"/>
              <a:t>Ecriture </a:t>
            </a:r>
            <a:r>
              <a:rPr lang="fr-FR" dirty="0"/>
              <a:t>un script Python nommé blackbox_cleaner.py</a:t>
            </a:r>
            <a:endParaRPr lang="fr-FR" b="1" i="1" dirty="0"/>
          </a:p>
        </p:txBody>
      </p:sp>
      <p:sp>
        <p:nvSpPr>
          <p:cNvPr id="7" name="Content Placeholder 6"/>
          <p:cNvSpPr>
            <a:spLocks noGrp="1"/>
          </p:cNvSpPr>
          <p:nvPr>
            <p:ph idx="1"/>
          </p:nvPr>
        </p:nvSpPr>
        <p:spPr>
          <a:xfrm>
            <a:off x="401855" y="2052918"/>
            <a:ext cx="10658628" cy="4159992"/>
          </a:xfrm>
        </p:spPr>
        <p:txBody>
          <a:bodyPr>
            <a:normAutofit/>
          </a:bodyPr>
          <a:lstStyle/>
          <a:p>
            <a:pPr marL="0" indent="0">
              <a:buNone/>
            </a:pPr>
            <a:r>
              <a:rPr lang="fr-FR" b="1" i="1" dirty="0" smtClean="0"/>
              <a:t>Les Fonctions clés</a:t>
            </a:r>
          </a:p>
          <a:p>
            <a:r>
              <a:rPr lang="fr-FR" sz="1800" dirty="0" smtClean="0"/>
              <a:t>Charger </a:t>
            </a:r>
            <a:r>
              <a:rPr lang="fr-FR" sz="1800" dirty="0"/>
              <a:t>toutes les données des deux fichiers JSON fournis.</a:t>
            </a:r>
          </a:p>
          <a:p>
            <a:r>
              <a:rPr lang="fr-FR" sz="1800" dirty="0"/>
              <a:t>Nettoyer et normaliser les deux jeux de données en utilisant une logique dynamique.</a:t>
            </a:r>
          </a:p>
          <a:p>
            <a:r>
              <a:rPr lang="fr-FR" sz="1800" dirty="0"/>
              <a:t>Fusionner les jeux de données à l'aide d'un identifiant commun.</a:t>
            </a:r>
          </a:p>
          <a:p>
            <a:r>
              <a:rPr lang="fr-FR" sz="1800" dirty="0"/>
              <a:t>La première colonne doit être </a:t>
            </a:r>
            <a:r>
              <a:rPr lang="fr-FR" sz="1800" dirty="0" err="1"/>
              <a:t>tx_id</a:t>
            </a:r>
            <a:r>
              <a:rPr lang="fr-FR" sz="1800" dirty="0"/>
              <a:t> renommée en ID.</a:t>
            </a:r>
          </a:p>
          <a:p>
            <a:r>
              <a:rPr lang="fr-FR" sz="1800" dirty="0"/>
              <a:t>Masquer toutes les informations personnelles identifiables (PII).</a:t>
            </a:r>
          </a:p>
          <a:p>
            <a:r>
              <a:rPr lang="fr-FR" sz="1800" dirty="0"/>
              <a:t>Les dates et heures doivent respecter le format suivant : JJ/MM/AAAA HH:MM:SS</a:t>
            </a:r>
          </a:p>
          <a:p>
            <a:r>
              <a:rPr lang="fr-FR" sz="1800" dirty="0"/>
              <a:t>Garantir que l'ensemble du tableau soit au format chaîne de caractères.</a:t>
            </a:r>
          </a:p>
          <a:p>
            <a:r>
              <a:rPr lang="fr-FR" sz="1800" dirty="0"/>
              <a:t>Retourner les données nettoyées sous forme de </a:t>
            </a:r>
            <a:r>
              <a:rPr lang="fr-FR" sz="1800" dirty="0" err="1"/>
              <a:t>DataFrame</a:t>
            </a:r>
            <a:r>
              <a:rPr lang="fr-FR" sz="1800" dirty="0"/>
              <a:t> pandas.</a:t>
            </a:r>
          </a:p>
          <a:p>
            <a:r>
              <a:rPr lang="fr-FR" sz="1800" dirty="0"/>
              <a:t>Sauvegarder le résultat nettoyé dans un fichier CSV.</a:t>
            </a:r>
          </a:p>
          <a:p>
            <a:pPr marL="0" indent="0">
              <a:buNone/>
            </a:pPr>
            <a:endParaRPr lang="fr-FR" dirty="0"/>
          </a:p>
        </p:txBody>
      </p:sp>
    </p:spTree>
    <p:extLst>
      <p:ext uri="{BB962C8B-B14F-4D97-AF65-F5344CB8AC3E}">
        <p14:creationId xmlns:p14="http://schemas.microsoft.com/office/powerpoint/2010/main" val="25900332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Présentation des Membres du Groupes</a:t>
            </a:r>
            <a:endParaRPr lang="fr-FR"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408808"/>
              </p:ext>
            </p:extLst>
          </p:nvPr>
        </p:nvGraphicFramePr>
        <p:xfrm>
          <a:off x="2029218" y="3031297"/>
          <a:ext cx="8229599" cy="2534733"/>
        </p:xfrm>
        <a:graphic>
          <a:graphicData uri="http://schemas.openxmlformats.org/drawingml/2006/table">
            <a:tbl>
              <a:tblPr firstRow="1" firstCol="1" bandRow="1">
                <a:tableStyleId>{5C22544A-7EE6-4342-B048-85BDC9FD1C3A}</a:tableStyleId>
              </a:tblPr>
              <a:tblGrid>
                <a:gridCol w="2315245">
                  <a:extLst>
                    <a:ext uri="{9D8B030D-6E8A-4147-A177-3AD203B41FA5}">
                      <a16:colId xmlns:a16="http://schemas.microsoft.com/office/drawing/2014/main" val="3225502225"/>
                    </a:ext>
                  </a:extLst>
                </a:gridCol>
                <a:gridCol w="2957177">
                  <a:extLst>
                    <a:ext uri="{9D8B030D-6E8A-4147-A177-3AD203B41FA5}">
                      <a16:colId xmlns:a16="http://schemas.microsoft.com/office/drawing/2014/main" val="3968361254"/>
                    </a:ext>
                  </a:extLst>
                </a:gridCol>
                <a:gridCol w="2957177">
                  <a:extLst>
                    <a:ext uri="{9D8B030D-6E8A-4147-A177-3AD203B41FA5}">
                      <a16:colId xmlns:a16="http://schemas.microsoft.com/office/drawing/2014/main" val="1682685721"/>
                    </a:ext>
                  </a:extLst>
                </a:gridCol>
              </a:tblGrid>
              <a:tr h="458227">
                <a:tc>
                  <a:txBody>
                    <a:bodyPr/>
                    <a:lstStyle/>
                    <a:p>
                      <a:pPr algn="ctr">
                        <a:lnSpc>
                          <a:spcPct val="107000"/>
                        </a:lnSpc>
                        <a:spcAft>
                          <a:spcPts val="1000"/>
                        </a:spcAft>
                      </a:pPr>
                      <a:r>
                        <a:rPr lang="fr-FR" sz="1600">
                          <a:effectLst/>
                        </a:rPr>
                        <a:t>Nom du Groupe</a:t>
                      </a:r>
                      <a:endParaRPr lang="fr-FR" sz="16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1000"/>
                        </a:spcAft>
                      </a:pPr>
                      <a:r>
                        <a:rPr lang="fr-FR" sz="1600">
                          <a:effectLst/>
                        </a:rPr>
                        <a:t>Nom des Membres</a:t>
                      </a:r>
                      <a:endParaRPr lang="fr-FR" sz="1600">
                        <a:effectLst/>
                        <a:latin typeface="Calibri" panose="020F0502020204030204" pitchFamily="34" charset="0"/>
                        <a:ea typeface="Calibri" panose="020F0502020204030204" pitchFamily="34" charset="0"/>
                      </a:endParaRPr>
                    </a:p>
                  </a:txBody>
                  <a:tcPr marL="68580" marR="68580" marT="0" marB="0"/>
                </a:tc>
                <a:tc>
                  <a:txBody>
                    <a:bodyPr/>
                    <a:lstStyle/>
                    <a:p>
                      <a:pPr algn="ctr">
                        <a:lnSpc>
                          <a:spcPct val="107000"/>
                        </a:lnSpc>
                        <a:spcAft>
                          <a:spcPts val="1000"/>
                        </a:spcAft>
                      </a:pPr>
                      <a:r>
                        <a:rPr lang="fr-FR" sz="1600" dirty="0">
                          <a:effectLst/>
                        </a:rPr>
                        <a:t>Email</a:t>
                      </a:r>
                      <a:endParaRPr lang="fr-FR"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284648673"/>
                  </a:ext>
                </a:extLst>
              </a:tr>
              <a:tr h="458570">
                <a:tc rowSpan="3">
                  <a:txBody>
                    <a:bodyPr/>
                    <a:lstStyle/>
                    <a:p>
                      <a:pPr algn="ctr">
                        <a:lnSpc>
                          <a:spcPct val="107000"/>
                        </a:lnSpc>
                        <a:spcAft>
                          <a:spcPts val="1000"/>
                        </a:spcAft>
                      </a:pPr>
                      <a:r>
                        <a:rPr lang="fr-FR" sz="1100" dirty="0">
                          <a:effectLst/>
                        </a:rPr>
                        <a:t> </a:t>
                      </a:r>
                    </a:p>
                    <a:p>
                      <a:pPr algn="ctr">
                        <a:lnSpc>
                          <a:spcPct val="107000"/>
                        </a:lnSpc>
                        <a:spcAft>
                          <a:spcPts val="1000"/>
                        </a:spcAft>
                      </a:pPr>
                      <a:endParaRPr lang="fr-FR" sz="1100" dirty="0" smtClean="0">
                        <a:effectLst/>
                      </a:endParaRPr>
                    </a:p>
                    <a:p>
                      <a:pPr algn="ctr">
                        <a:lnSpc>
                          <a:spcPct val="107000"/>
                        </a:lnSpc>
                        <a:spcAft>
                          <a:spcPts val="1000"/>
                        </a:spcAft>
                      </a:pPr>
                      <a:r>
                        <a:rPr lang="fr-FR" sz="2400" dirty="0" smtClean="0">
                          <a:effectLst/>
                        </a:rPr>
                        <a:t>Teams </a:t>
                      </a:r>
                      <a:r>
                        <a:rPr lang="fr-FR" sz="2400" dirty="0">
                          <a:effectLst/>
                        </a:rPr>
                        <a:t>DE BJ</a:t>
                      </a:r>
                      <a:endParaRPr lang="fr-FR" sz="2400" dirty="0">
                        <a:effectLst/>
                        <a:latin typeface="Calibri" panose="020F0502020204030204" pitchFamily="34" charset="0"/>
                        <a:ea typeface="Calibri" panose="020F0502020204030204" pitchFamily="34" charset="0"/>
                      </a:endParaRPr>
                    </a:p>
                  </a:txBody>
                  <a:tcPr marL="68580" marR="68580" marT="0" marB="0"/>
                </a:tc>
                <a:tc>
                  <a:txBody>
                    <a:bodyPr/>
                    <a:lstStyle/>
                    <a:p>
                      <a:pPr marL="0" marR="0" lvl="0" indent="0" algn="l" defTabSz="457200" rtl="0" eaLnBrk="1" fontAlgn="auto" latinLnBrk="0" hangingPunct="1">
                        <a:lnSpc>
                          <a:spcPct val="107000"/>
                        </a:lnSpc>
                        <a:spcBef>
                          <a:spcPts val="0"/>
                        </a:spcBef>
                        <a:spcAft>
                          <a:spcPts val="1000"/>
                        </a:spcAft>
                        <a:buClrTx/>
                        <a:buSzTx/>
                        <a:buFontTx/>
                        <a:buNone/>
                        <a:tabLst/>
                        <a:defRPr/>
                      </a:pPr>
                      <a:r>
                        <a:rPr lang="fr-FR" sz="1400" b="1" dirty="0">
                          <a:effectLst/>
                        </a:rPr>
                        <a:t>FADE </a:t>
                      </a:r>
                      <a:r>
                        <a:rPr lang="fr-FR" sz="1400" b="1" dirty="0" smtClean="0">
                          <a:effectLst/>
                        </a:rPr>
                        <a:t>Fanick </a:t>
                      </a:r>
                    </a:p>
                    <a:p>
                      <a:pPr marL="0" marR="0" lvl="0" indent="0" algn="l" defTabSz="457200" rtl="0" eaLnBrk="1" fontAlgn="auto" latinLnBrk="0" hangingPunct="1">
                        <a:lnSpc>
                          <a:spcPct val="107000"/>
                        </a:lnSpc>
                        <a:spcBef>
                          <a:spcPts val="0"/>
                        </a:spcBef>
                        <a:spcAft>
                          <a:spcPts val="1000"/>
                        </a:spcAft>
                        <a:buClrTx/>
                        <a:buSzTx/>
                        <a:buFontTx/>
                        <a:buNone/>
                        <a:tabLst/>
                        <a:defRPr/>
                      </a:pPr>
                      <a:r>
                        <a:rPr lang="fr-FR" sz="1400" b="1" dirty="0" smtClean="0">
                          <a:effectLst/>
                        </a:rPr>
                        <a:t> </a:t>
                      </a:r>
                      <a:r>
                        <a:rPr lang="fr-FR" sz="1100" dirty="0" smtClean="0">
                          <a:effectLst/>
                        </a:rPr>
                        <a:t>« </a:t>
                      </a:r>
                      <a:r>
                        <a:rPr lang="fr-FR" sz="1100" b="0" i="0" u="none" strike="noStrike" kern="1200" dirty="0" smtClean="0">
                          <a:solidFill>
                            <a:schemeClr val="dk1"/>
                          </a:solidFill>
                          <a:effectLst/>
                          <a:latin typeface="+mn-lt"/>
                          <a:ea typeface="+mn-ea"/>
                          <a:cs typeface="+mn-cs"/>
                        </a:rPr>
                        <a:t>Fanick06 »</a:t>
                      </a:r>
                      <a:endParaRPr lang="fr-FR" sz="1800" b="0" i="0" u="none" strike="noStrike" kern="1200" dirty="0" smtClean="0">
                        <a:solidFill>
                          <a:schemeClr val="dk1"/>
                        </a:solidFill>
                        <a:effectLst/>
                        <a:latin typeface="+mn-lt"/>
                        <a:ea typeface="+mn-ea"/>
                        <a:cs typeface="+mn-cs"/>
                      </a:endParaRPr>
                    </a:p>
                  </a:txBody>
                  <a:tcPr marL="68580" marR="68580" marT="0" marB="0"/>
                </a:tc>
                <a:tc>
                  <a:txBody>
                    <a:bodyPr/>
                    <a:lstStyle/>
                    <a:p>
                      <a:pPr algn="l">
                        <a:lnSpc>
                          <a:spcPct val="107000"/>
                        </a:lnSpc>
                        <a:spcAft>
                          <a:spcPts val="1000"/>
                        </a:spcAft>
                      </a:pPr>
                      <a:r>
                        <a:rPr lang="fr-FR" sz="1100">
                          <a:effectLst/>
                        </a:rPr>
                        <a:t>fadefanick@gmail.com</a:t>
                      </a:r>
                      <a:endParaRPr lang="fr-FR"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227687523"/>
                  </a:ext>
                </a:extLst>
              </a:tr>
              <a:tr h="458570">
                <a:tc vMerge="1">
                  <a:txBody>
                    <a:bodyPr/>
                    <a:lstStyle/>
                    <a:p>
                      <a:endParaRPr lang="fr-FR"/>
                    </a:p>
                  </a:txBody>
                  <a:tcPr/>
                </a:tc>
                <a:tc>
                  <a:txBody>
                    <a:bodyPr/>
                    <a:lstStyle/>
                    <a:p>
                      <a:pPr algn="l">
                        <a:lnSpc>
                          <a:spcPct val="107000"/>
                        </a:lnSpc>
                        <a:spcAft>
                          <a:spcPts val="1000"/>
                        </a:spcAft>
                      </a:pPr>
                      <a:r>
                        <a:rPr lang="fr-FR" sz="1400" b="1" dirty="0">
                          <a:effectLst/>
                        </a:rPr>
                        <a:t>DEHA </a:t>
                      </a:r>
                      <a:r>
                        <a:rPr lang="fr-FR" sz="1400" b="1" dirty="0" smtClean="0">
                          <a:effectLst/>
                        </a:rPr>
                        <a:t>Samson</a:t>
                      </a:r>
                    </a:p>
                    <a:p>
                      <a:pPr algn="l">
                        <a:lnSpc>
                          <a:spcPct val="107000"/>
                        </a:lnSpc>
                        <a:spcAft>
                          <a:spcPts val="1000"/>
                        </a:spcAft>
                      </a:pPr>
                      <a:r>
                        <a:rPr lang="fr-FR" sz="1200" b="0" dirty="0" smtClean="0">
                          <a:effectLst/>
                          <a:latin typeface="Calibri" panose="020F0502020204030204" pitchFamily="34" charset="0"/>
                          <a:ea typeface="Calibri" panose="020F0502020204030204" pitchFamily="34" charset="0"/>
                        </a:rPr>
                        <a:t>« Speak_Data »</a:t>
                      </a:r>
                      <a:endParaRPr lang="fr-FR" sz="1200" b="0" dirty="0">
                        <a:effectLst/>
                        <a:latin typeface="Calibri" panose="020F0502020204030204" pitchFamily="34" charset="0"/>
                        <a:ea typeface="Calibri" panose="020F0502020204030204" pitchFamily="34" charset="0"/>
                      </a:endParaRPr>
                    </a:p>
                  </a:txBody>
                  <a:tcPr marL="68580" marR="68580" marT="0" marB="0"/>
                </a:tc>
                <a:tc>
                  <a:txBody>
                    <a:bodyPr/>
                    <a:lstStyle/>
                    <a:p>
                      <a:pPr algn="l">
                        <a:lnSpc>
                          <a:spcPct val="107000"/>
                        </a:lnSpc>
                        <a:spcAft>
                          <a:spcPts val="1000"/>
                        </a:spcAft>
                      </a:pPr>
                      <a:r>
                        <a:rPr lang="fr-FR" sz="1050">
                          <a:effectLst/>
                        </a:rPr>
                        <a:t>dehasamson@gmail.com</a:t>
                      </a:r>
                      <a:endParaRPr lang="fr-FR"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99953185"/>
                  </a:ext>
                </a:extLst>
              </a:tr>
              <a:tr h="941951">
                <a:tc vMerge="1">
                  <a:txBody>
                    <a:bodyPr/>
                    <a:lstStyle/>
                    <a:p>
                      <a:endParaRPr lang="fr-FR"/>
                    </a:p>
                  </a:txBody>
                  <a:tcPr/>
                </a:tc>
                <a:tc>
                  <a:txBody>
                    <a:bodyPr/>
                    <a:lstStyle/>
                    <a:p>
                      <a:pPr algn="l">
                        <a:lnSpc>
                          <a:spcPct val="107000"/>
                        </a:lnSpc>
                        <a:spcAft>
                          <a:spcPts val="1000"/>
                        </a:spcAft>
                      </a:pPr>
                      <a:r>
                        <a:rPr lang="fr-FR" sz="1400" b="1" dirty="0">
                          <a:effectLst/>
                        </a:rPr>
                        <a:t>AGBLA Hermann </a:t>
                      </a:r>
                      <a:r>
                        <a:rPr lang="fr-FR" sz="1400" b="1" dirty="0" smtClean="0">
                          <a:effectLst/>
                        </a:rPr>
                        <a:t>Luc</a:t>
                      </a:r>
                      <a:r>
                        <a:rPr lang="fr-FR" sz="1400" b="1" baseline="0" dirty="0" smtClean="0">
                          <a:effectLst/>
                        </a:rPr>
                        <a:t> </a:t>
                      </a:r>
                    </a:p>
                    <a:p>
                      <a:pPr algn="l">
                        <a:lnSpc>
                          <a:spcPct val="107000"/>
                        </a:lnSpc>
                        <a:spcAft>
                          <a:spcPts val="1000"/>
                        </a:spcAft>
                      </a:pPr>
                      <a:r>
                        <a:rPr lang="fr-FR" sz="1100" b="0" baseline="0" dirty="0" smtClean="0">
                          <a:effectLst/>
                        </a:rPr>
                        <a:t>« Hermann96 »</a:t>
                      </a:r>
                      <a:endParaRPr lang="fr-FR" sz="1100" b="0" dirty="0">
                        <a:effectLst/>
                        <a:latin typeface="Calibri" panose="020F0502020204030204" pitchFamily="34" charset="0"/>
                        <a:ea typeface="Calibri" panose="020F0502020204030204" pitchFamily="34" charset="0"/>
                      </a:endParaRPr>
                    </a:p>
                  </a:txBody>
                  <a:tcPr marL="68580" marR="68580" marT="0" marB="0"/>
                </a:tc>
                <a:tc>
                  <a:txBody>
                    <a:bodyPr/>
                    <a:lstStyle/>
                    <a:p>
                      <a:pPr algn="l">
                        <a:lnSpc>
                          <a:spcPct val="107000"/>
                        </a:lnSpc>
                        <a:spcAft>
                          <a:spcPts val="1000"/>
                        </a:spcAft>
                      </a:pPr>
                      <a:r>
                        <a:rPr lang="fr-FR" sz="1100" dirty="0">
                          <a:effectLst/>
                        </a:rPr>
                        <a:t>hermannlucagbla@gmail.com</a:t>
                      </a:r>
                      <a:endParaRPr lang="fr-FR"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77788267"/>
                  </a:ext>
                </a:extLst>
              </a:tr>
            </a:tbl>
          </a:graphicData>
        </a:graphic>
      </p:graphicFrame>
    </p:spTree>
    <p:extLst>
      <p:ext uri="{BB962C8B-B14F-4D97-AF65-F5344CB8AC3E}">
        <p14:creationId xmlns:p14="http://schemas.microsoft.com/office/powerpoint/2010/main" val="38318978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 Projet </a:t>
            </a:r>
            <a:r>
              <a:rPr lang="fr-FR" dirty="0" err="1" smtClean="0"/>
              <a:t>Zindi</a:t>
            </a:r>
            <a:endParaRPr lang="fr-FR" dirty="0"/>
          </a:p>
        </p:txBody>
      </p:sp>
      <p:sp>
        <p:nvSpPr>
          <p:cNvPr id="3" name="Content Placeholder 2"/>
          <p:cNvSpPr>
            <a:spLocks noGrp="1"/>
          </p:cNvSpPr>
          <p:nvPr>
            <p:ph idx="1"/>
          </p:nvPr>
        </p:nvSpPr>
        <p:spPr/>
        <p:txBody>
          <a:bodyPr/>
          <a:lstStyle/>
          <a:p>
            <a:pPr marL="0" indent="0">
              <a:buNone/>
            </a:pPr>
            <a:r>
              <a:rPr lang="fr-FR" dirty="0" smtClean="0"/>
              <a:t>Lien pour accéder au fichier ‘’.</a:t>
            </a:r>
            <a:r>
              <a:rPr lang="fr-FR" dirty="0" err="1" smtClean="0"/>
              <a:t>py</a:t>
            </a:r>
            <a:r>
              <a:rPr lang="fr-FR" dirty="0" smtClean="0"/>
              <a:t>’’ et CSV : </a:t>
            </a:r>
          </a:p>
          <a:p>
            <a:pPr marL="0" indent="0">
              <a:buNone/>
            </a:pPr>
            <a:endParaRPr lang="fr-FR" dirty="0"/>
          </a:p>
          <a:p>
            <a:pPr marL="0" indent="0">
              <a:buNone/>
            </a:pPr>
            <a:r>
              <a:rPr lang="fr-FR" dirty="0"/>
              <a:t>https://drive.google.com/drive/folders/1kaXy1XZgbBzNv2vYGGASqsBwRD3ryu7a?usp=drive_link</a:t>
            </a:r>
          </a:p>
        </p:txBody>
      </p:sp>
    </p:spTree>
    <p:extLst>
      <p:ext uri="{BB962C8B-B14F-4D97-AF65-F5344CB8AC3E}">
        <p14:creationId xmlns:p14="http://schemas.microsoft.com/office/powerpoint/2010/main" val="38059084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Présentation du Score</a:t>
            </a:r>
            <a:endParaRPr lang="fr-FR" dirty="0"/>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9777" b="4469"/>
          <a:stretch/>
        </p:blipFill>
        <p:spPr>
          <a:xfrm>
            <a:off x="646111" y="1678488"/>
            <a:ext cx="8122108" cy="4652536"/>
          </a:xfrm>
        </p:spPr>
      </p:pic>
      <p:sp>
        <p:nvSpPr>
          <p:cNvPr id="5" name="Rectangle 4"/>
          <p:cNvSpPr/>
          <p:nvPr/>
        </p:nvSpPr>
        <p:spPr>
          <a:xfrm>
            <a:off x="9394521" y="1853248"/>
            <a:ext cx="2530257" cy="40465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u="sng" dirty="0" smtClean="0"/>
              <a:t>Nom du Groupe </a:t>
            </a:r>
            <a:r>
              <a:rPr lang="fr-FR" b="1" u="sng" dirty="0" smtClean="0"/>
              <a:t>: </a:t>
            </a:r>
          </a:p>
          <a:p>
            <a:pPr algn="ctr"/>
            <a:endParaRPr lang="fr-FR" dirty="0"/>
          </a:p>
          <a:p>
            <a:pPr algn="ctr"/>
            <a:r>
              <a:rPr lang="fr-FR" b="1" i="1" dirty="0" smtClean="0"/>
              <a:t>Teams DE BJ</a:t>
            </a:r>
            <a:endParaRPr lang="fr-FR" b="1" i="1" dirty="0"/>
          </a:p>
        </p:txBody>
      </p:sp>
    </p:spTree>
    <p:extLst>
      <p:ext uri="{BB962C8B-B14F-4D97-AF65-F5344CB8AC3E}">
        <p14:creationId xmlns:p14="http://schemas.microsoft.com/office/powerpoint/2010/main" val="241122293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98</TotalTime>
  <Words>387</Words>
  <Application>Microsoft Office PowerPoint</Application>
  <PresentationFormat>Widescreen</PresentationFormat>
  <Paragraphs>46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Century Gothic</vt:lpstr>
      <vt:lpstr>Times New Roman</vt:lpstr>
      <vt:lpstr>Wingdings 3</vt:lpstr>
      <vt:lpstr>Ion</vt:lpstr>
      <vt:lpstr>Mise en place d’un modèle de détection de fraude</vt:lpstr>
      <vt:lpstr>Vision du Projet Zindi</vt:lpstr>
      <vt:lpstr>Tâche : Ecriture un script Python nommé blackbox_cleaner.py</vt:lpstr>
      <vt:lpstr>Présentation des Membres du Groupes</vt:lpstr>
      <vt:lpstr>Le Projet Zindi</vt:lpstr>
      <vt:lpstr>Présentation du Score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Mise en d’ un modèle de détection de fraude</dc:title>
  <dc:creator>Hermann Luc</dc:creator>
  <cp:lastModifiedBy>Hermann Luc</cp:lastModifiedBy>
  <cp:revision>10</cp:revision>
  <dcterms:created xsi:type="dcterms:W3CDTF">2025-12-01T12:25:52Z</dcterms:created>
  <dcterms:modified xsi:type="dcterms:W3CDTF">2025-12-02T00:15:17Z</dcterms:modified>
</cp:coreProperties>
</file>